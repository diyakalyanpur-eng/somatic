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Médecine du travail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3.5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Pharma RUO/Trials</c:v>
                </c:pt>
              </c:strCache>
            </c:strRef>
          </c:tx>
          <c:spPr>
            <a:solidFill>
              <a:srgbClr val="E844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2</c:v>
                </c:pt>
                <c:pt idx="2">
                  <c:v>12</c:v>
                </c:pt>
                <c:pt idx="3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Mutuelles/Insurance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</c:v>
                </c:pt>
                <c:pt idx="1">
                  <c:v>4</c:v>
                </c:pt>
                <c:pt idx="2">
                  <c:v>18</c:v>
                </c:pt>
                <c:pt idx="3">
                  <c:v>45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Consumer</c:v>
                </c:pt>
              </c:strCache>
            </c:strRef>
          </c:tx>
          <c:spPr>
            <a:solidFill>
              <a:srgbClr val="F5C8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0.3</c:v>
                </c:pt>
                <c:pt idx="1">
                  <c:v>1.5</c:v>
                </c:pt>
                <c:pt idx="2">
                  <c:v>8</c:v>
                </c:pt>
                <c:pt idx="3">
                  <c:v>25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Hospital / RPM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0.5</c:v>
                </c:pt>
                <c:pt idx="2">
                  <c:v>10</c:v>
                </c:pt>
                <c:pt idx="3">
                  <c:v>35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Data Licensing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€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0"/>
          </a:xfrm>
          <a:prstGeom prst="line">
            <a:avLst/>
          </a:prstGeom>
          <a:noFill/>
          <a:ln w="12700">
            <a:solidFill>
              <a:srgbClr val="2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651760"/>
            <a:ext cx="274320" cy="0"/>
          </a:xfrm>
          <a:prstGeom prst="line">
            <a:avLst/>
          </a:prstGeom>
          <a:noFill/>
          <a:ln w="19050">
            <a:solidFill>
              <a:srgbClr val="E844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2651760"/>
            <a:ext cx="137160" cy="0"/>
          </a:xfrm>
          <a:prstGeom prst="line">
            <a:avLst/>
          </a:prstGeom>
          <a:noFill/>
          <a:ln w="19050">
            <a:solidFill>
              <a:srgbClr val="E844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651760"/>
            <a:ext cx="91440" cy="0"/>
          </a:xfrm>
          <a:prstGeom prst="line">
            <a:avLst/>
          </a:prstGeom>
          <a:noFill/>
          <a:ln w="19050">
            <a:solidFill>
              <a:srgbClr val="E84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2651760"/>
            <a:ext cx="109728" cy="0"/>
          </a:xfrm>
          <a:prstGeom prst="line">
            <a:avLst/>
          </a:prstGeom>
          <a:noFill/>
          <a:ln w="25400">
            <a:solidFill>
              <a:srgbClr val="E844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48" y="2651760"/>
            <a:ext cx="228600" cy="0"/>
          </a:xfrm>
          <a:prstGeom prst="line">
            <a:avLst/>
          </a:prstGeom>
          <a:noFill/>
          <a:ln w="25400">
            <a:solidFill>
              <a:srgbClr val="E84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445A"/>
                </a:solidFill>
              </a:rPr>
              <a:t>Ai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55448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EDE8"/>
                </a:solidFill>
              </a:rPr>
              <a:t>Steth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100" kern="0" dirty="0">
                <a:solidFill>
                  <a:srgbClr val="8A8280"/>
                </a:solidFill>
              </a:rPr>
              <a:t>The intelligent cardiac monitoring platform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1828800" cy="27432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FDA 510(k) Stethoscope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3017520"/>
            <a:ext cx="1828800" cy="27432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AI Auscultation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0" y="3017520"/>
            <a:ext cx="1828800" cy="27432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Camera Vitals (rPPG/PPG)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49440" y="3017520"/>
            <a:ext cx="1828800" cy="274320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SCORE2 Risk Scoring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EU-First · GDPR Compliant · France HQ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The Opportunity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Cardiovascular disease remains the #1 killer globally — and the monitoring gap is enormous.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73152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445A"/>
                </a:solidFill>
              </a:rPr>
              <a:t>17.9M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Deaths from CVD per year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WHO 2023 — more than cancer + diabetes combined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097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097280"/>
            <a:ext cx="2697480" cy="73152"/>
          </a:xfrm>
          <a:prstGeom prst="rect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4173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C87A"/>
                </a:solidFill>
              </a:rPr>
              <a:t>10,000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493008" y="2377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Europeans turn 65 every 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47288" y="2926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54M EU citizens over 65 by 2030 — fastest-growing segment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4496" y="1097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097280"/>
            <a:ext cx="2697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4173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B82F6"/>
                </a:solidFill>
              </a:rPr>
              <a:t>80%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391656" y="2377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Of cardiac events are preventable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5936" y="2926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With early detection and continuous monitoring (ESC 2021)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749808"/>
          </a:xfrm>
          <a:prstGeom prst="rect">
            <a:avLst/>
          </a:prstGeom>
          <a:solidFill>
            <a:srgbClr val="FFF3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416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Today's monitoring is expensive, hospital-bound and infrequent. Patients go months between readings. AiSteth makes continuous, affordable, clinically-credible cardiac monitoring possible from any smartphone — with or without the stethoscope.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The Product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A complete cardiac intelligence stack — hardware + AI + risk scoring + family monitoring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6400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2527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Digital Stethoscope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2821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FDA 510(k)-cleared hardware. Captures heart &amp; lung sounds for AI auscultation and direct physician review. Works standalone — no smartphone dependency.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41148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252728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12527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Camera Vitals (rPPG/PPG)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72821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Face scan (20s) → finger scan (20s) → dual-phase fused result. Captures BPM, HRV, SpO2 (finger only), and respiratory rate using your phone camera — no wearable needed.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90088"/>
            <a:ext cx="4114800" cy="64008"/>
          </a:xfrm>
          <a:prstGeom prst="rect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191256"/>
            <a:ext cx="475488" cy="47548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1912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SCORE2 / QRISK Risk Scoring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66674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ESC 2021-mandated SCORE2 for EU. QRISK3 for UK. WHO-ISH for global markets. Validated 10-year cardiovascular risk — clinically accepted with no additional clearance required.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990088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990088"/>
            <a:ext cx="41148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3191256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31912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Family Data Sharing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66674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Phone number as the linking key. Adult children monitor aging parents. Parents see children's readings. Bidirectional — both parties see each other's cardiac history.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DE8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A 4-minute scan produces a clinical-grade cardiac snapshot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74520" cy="342900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1234440"/>
            <a:ext cx="594360" cy="594360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DE8"/>
                </a:solidFill>
              </a:rPr>
              <a:t>Face Scan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304288"/>
            <a:ext cx="1664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20 seconds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Camera captures rPPG signal from skin microcirculation → BPM, HRV, breathing rate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31720" y="2468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445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2032" y="1097280"/>
            <a:ext cx="1874520" cy="342900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594360" cy="594360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33472" y="1920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DE8"/>
                </a:solidFill>
              </a:rPr>
              <a:t>Finger Scan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304288"/>
            <a:ext cx="1664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20 seconds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Finger on camera → contact PPG for SpO₂, HRV refinement. Torch auto-activated.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16552" y="2468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87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26864" y="1097280"/>
            <a:ext cx="1874520" cy="342900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234440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18304" y="1920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DE8"/>
                </a:solidFill>
              </a:rPr>
              <a:t>AI Fusion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2304288"/>
            <a:ext cx="1664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Instant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Dual-phase signals quality-weighted and fused. SCORE2 run against longitudinal baseline.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01384" y="24688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11696" y="1097280"/>
            <a:ext cx="1874520" cy="342900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70064" y="1234440"/>
            <a:ext cx="594360" cy="5943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0064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03136" y="1920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DE8"/>
                </a:solidFill>
              </a:rPr>
              <a:t>Risk Profile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21424" y="2304288"/>
            <a:ext cx="1664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Ongoing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Longitudinal trend. Family sharing. Alerts. Export to clinician dashboard or EHR.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280"/>
                </a:solidFill>
              </a:rPr>
              <a:t>rPPG/PPG vitals are wellness indicators (not cleared for clinical claims). Stethoscope auscultation is FDA 510(k)-cleared hardware. SCORE2 is clinically validated.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Why AiSteth Wins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Five moats competitors cannot easily replicate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70408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75588"/>
            <a:ext cx="256032" cy="256032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755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Hardware + Software in one app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60520" y="11247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Cleared stethoscope AND camera vitals AND risk scoring in a single PWA. Eko gives you the stethoscope. Apple Watch gives you vitals. AiSteth gives you both — and clinical risk scoring.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69080" y="1161288"/>
            <a:ext cx="0" cy="4846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28800"/>
            <a:ext cx="64008" cy="704088"/>
          </a:xfrm>
          <a:prstGeom prst="rect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052828"/>
            <a:ext cx="256032" cy="256032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0528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1920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SCORE2 — aligned with EU clinical standards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60520" y="190195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ESC 2021 guidelines mandate SCORE2 for every EU GP. No other consumer health app has it. This is the key to every mutuelle, occupational health, and hospital conversation in Europe.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69080" y="1938528"/>
            <a:ext cx="0" cy="4846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06040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06040"/>
            <a:ext cx="64008" cy="7040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83006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8300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2697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GDPR-native EU infrastructure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60520" y="26791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EU servers, GDPR compliance baked in from day one. US competitors (Apple, Whoop, Oura) are US-first and face procurement blocks from EU health systems. We don't.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2715768"/>
            <a:ext cx="0" cy="4846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383280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383280"/>
            <a:ext cx="64008" cy="7040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607308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6073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3474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Family data sharing network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60520" y="345643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Phone number as the linking key — adult children monitor aging parents. Each link doubles users organically. Built-in referral loop with no CAC. No other cardiac app has this.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69080" y="3493008"/>
            <a:ext cx="0" cy="4846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60520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160520"/>
            <a:ext cx="64008" cy="7040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438454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3845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1560" y="4251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Proprietary longitudinal dataset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160520" y="42336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Every scan adds to a growing dataset of heart sounds + vitals + risk scores + outcomes. This becomes the data moat: licensed to pharma for RWE, used to train future AI models, increasingly hard to replicate.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069080" y="4270248"/>
            <a:ext cx="0" cy="4846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Competitive Landscape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AiSteth is the only product combining all five capabilities — without a dedicated wearable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194560" y="10789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Stethoscope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0" y="10789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Camera Vitals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0" y="10789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CVD Risk Score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77840" y="10789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Family Sharing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629400" y="10789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GDPR Native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80960" y="10789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 Hardware Needed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solidFill>
            <a:srgbClr val="FFF3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481328"/>
            <a:ext cx="54864" cy="438912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48132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445A"/>
                </a:solidFill>
              </a:rPr>
              <a:t>AiSteth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94560" y="14813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45A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4813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45A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14813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45A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14813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45A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14813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45A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14813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45A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1947672"/>
            <a:ext cx="8229600" cy="438912"/>
          </a:xfrm>
          <a:prstGeom prst="rect">
            <a:avLst/>
          </a:prstGeom>
          <a:solidFill>
            <a:srgbClr val="F5F5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194767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Eko DUO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194767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194767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0" y="194767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194767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194767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80960" y="194767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2414016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41401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Whoop 4.0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94560" y="241401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241401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9120" y="24140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241401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29400" y="2414016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80960" y="24140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2880360"/>
            <a:ext cx="8229600" cy="438912"/>
          </a:xfrm>
          <a:prstGeom prst="rect">
            <a:avLst/>
          </a:prstGeom>
          <a:solidFill>
            <a:srgbClr val="F5F5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288036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Oura Ring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194560" y="28803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91840" y="28803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0" y="28803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77840" y="288036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629400" y="288036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80960" y="28803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3346704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3346704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Apple Watch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194560" y="33467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291840" y="33467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389120" y="33467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577840" y="334670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629400" y="334670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680960" y="334670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57200" y="3813048"/>
            <a:ext cx="8229600" cy="438912"/>
          </a:xfrm>
          <a:prstGeom prst="rect">
            <a:avLst/>
          </a:prstGeom>
          <a:solidFill>
            <a:srgbClr val="F5F5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" y="381304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Withings ScanWatch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194560" y="38130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291840" y="38130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389120" y="38130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577840" y="38130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629400" y="38130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680960" y="38130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57200" y="4279392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0352" y="4279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Samsung Health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2194560" y="427939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3291840" y="427939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389120" y="42793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577840" y="42793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629400" y="427939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–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680960" y="42793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Regulatory Status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What we can sell today vs. what unlocks next — and the roadmap to get there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24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Stethoscope Hardware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88920" y="1124712"/>
            <a:ext cx="1645920" cy="256032"/>
          </a:xfrm>
          <a:prstGeom prst="rect">
            <a:avLst/>
          </a:prstGeom>
          <a:solidFill>
            <a:srgbClr val="22C55E">
              <a:alpha val="13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124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US: FDA 510(k) Cleared ✓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0" y="1124712"/>
            <a:ext cx="1828800" cy="256032"/>
          </a:xfrm>
          <a:prstGeom prst="rect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124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EU: CE MDR Class IIa (filing)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510528" y="1088136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80"/>
                </a:solidFill>
              </a:rPr>
              <a:t>Use 510(k) tech file as MDR dossier basis. Target TÜV SÜD / BSI as Notified Body. Timeline: 6–10 months.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46520" y="1124712"/>
            <a:ext cx="0" cy="548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19656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rPPG / PPG Vitals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1892808"/>
            <a:ext cx="1645920" cy="256032"/>
          </a:xfrm>
          <a:prstGeom prst="rect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1892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US: Not cleared — Wellness/RUO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0" y="1892808"/>
            <a:ext cx="1828800" cy="256032"/>
          </a:xfrm>
          <a:prstGeom prst="rect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EU: Not cleared — Wellness/RUO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510528" y="1856232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80"/>
                </a:solidFill>
              </a:rPr>
              <a:t>Sellable today as wellness indicators and pharma Research Use Only (RUO). Cannot make diagnostic claims.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46520" y="1892808"/>
            <a:ext cx="0" cy="548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87752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2660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Auscultation AI 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2660904"/>
            <a:ext cx="1645920" cy="256032"/>
          </a:xfrm>
          <a:prstGeom prst="rect">
            <a:avLst/>
          </a:prstGeom>
          <a:solidFill>
            <a:srgbClr val="CCCCCC">
              <a:alpha val="13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660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280"/>
                </a:solidFill>
              </a:rPr>
              <a:t>US: In development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0" y="2660904"/>
            <a:ext cx="1828800" cy="256032"/>
          </a:xfrm>
          <a:prstGeom prst="rect">
            <a:avLst/>
          </a:prstGeom>
          <a:solidFill>
            <a:srgbClr val="CCCCCC">
              <a:alpha val="13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2660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280"/>
                </a:solidFill>
              </a:rPr>
              <a:t>EU: In development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510528" y="2624328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80"/>
                </a:solidFill>
              </a:rPr>
              <a:t>Accumulate labeled data via pharma RUO pilots + telecardiology. Target De Novo (US) / CE MDR Class IIa (EU). 12–18 months.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46520" y="2660904"/>
            <a:ext cx="0" cy="548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355848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429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SCORE2 / QRISK3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3429000"/>
            <a:ext cx="1645920" cy="256032"/>
          </a:xfrm>
          <a:prstGeom prst="rect">
            <a:avLst/>
          </a:prstGeom>
          <a:solidFill>
            <a:srgbClr val="22C55E">
              <a:alpha val="13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US: Validated — no clearance needed ✓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0" y="3429000"/>
            <a:ext cx="1828800" cy="256032"/>
          </a:xfrm>
          <a:prstGeom prst="rect">
            <a:avLst/>
          </a:prstGeom>
          <a:solidFill>
            <a:srgbClr val="22C55E">
              <a:alpha val="13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EU: ESC 2021 mandated — no clearance needed ✓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510528" y="3392424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80"/>
                </a:solidFill>
              </a:rPr>
              <a:t>Use immediately. Front all EU clinical and insurance conversations with SCORE2. It is the credibility key.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46520" y="3429000"/>
            <a:ext cx="0" cy="548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123944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" y="4197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GDPR Compliance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88920" y="4197096"/>
            <a:ext cx="1645920" cy="256032"/>
          </a:xfrm>
          <a:prstGeom prst="rect">
            <a:avLst/>
          </a:prstGeom>
          <a:solidFill>
            <a:srgbClr val="CCCCCC">
              <a:alpha val="1300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4197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280"/>
                </a:solidFill>
              </a:rPr>
              <a:t>US: N/A (US: HIPAA needed)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4197096"/>
            <a:ext cx="1828800" cy="256032"/>
          </a:xfrm>
          <a:prstGeom prst="rect">
            <a:avLst/>
          </a:prstGeom>
          <a:solidFill>
            <a:srgbClr val="22C55E">
              <a:alpha val="13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4197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EU: Compliant — EU servers ✓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510528" y="4160520"/>
            <a:ext cx="1993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280"/>
                </a:solidFill>
              </a:rPr>
              <a:t>EU-ready from day one. Major procurement advantage over US-headquartered competitors.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46520" y="4197096"/>
            <a:ext cx="0" cy="548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DE8"/>
                </a:solidFill>
              </a:rPr>
              <a:t>Technical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Three phases — from consumer PWA to full EU clinical stack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97480" cy="3767328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974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</a:rPr>
              <a:t>Phase 1 — Complete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481328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Done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105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Dual-phase rPPG/PPG scan engine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21284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1488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SCORE2 + QRISK3 + WHO-ISH risk models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" y="255117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48716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FDA 510(k) stethoscope hardware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288950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82549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PWA — no App Store install needed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" y="322783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16382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Family data sharing (phone number link)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" y="35661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50215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GDPR consent + right to erasure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390448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8404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Pending scan persistence (offline-first)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" y="424281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1788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Service Worker pre-cache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64992" y="1051560"/>
            <a:ext cx="2697480" cy="3767328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64992" y="1051560"/>
            <a:ext cx="2697480" cy="64008"/>
          </a:xfrm>
          <a:prstGeom prst="rect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1143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</a:rPr>
              <a:t>Phase 2 — In Progress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02152" y="1481328"/>
            <a:ext cx="822960" cy="201168"/>
          </a:xfrm>
          <a:prstGeom prst="rect">
            <a:avLst/>
          </a:prstGeom>
          <a:solidFill>
            <a:srgbClr val="F5C87A">
              <a:alpha val="20000"/>
            </a:srgbClr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87A"/>
                </a:solidFill>
              </a:rPr>
              <a:t>12 months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66160" y="1874520"/>
            <a:ext cx="109728" cy="10972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18105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CE MDR Class IIa (stethoscope hardware)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66160" y="2212848"/>
            <a:ext cx="109728" cy="10972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1488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Auscultation AI model training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2551176"/>
            <a:ext cx="109728" cy="10972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48716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Clinician dashboard + alert thresholds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66160" y="2889504"/>
            <a:ext cx="109728" cy="10972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282549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FHIR / HL7 EHR integration layer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66160" y="3227832"/>
            <a:ext cx="109728" cy="10972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16382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Pharma RUO data export API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66160" y="3566160"/>
            <a:ext cx="109728" cy="10972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350215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HAS certification (France / Mon espace santé)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566160" y="3904488"/>
            <a:ext cx="109728" cy="10972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38404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Médecine du travail enterprise module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66160" y="4242816"/>
            <a:ext cx="109728" cy="10972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0" y="41788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Multi-language EU (FR, DE, NL, ES)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72784" y="1051560"/>
            <a:ext cx="2697480" cy="3767328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72784" y="1051560"/>
            <a:ext cx="26974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9944" y="1143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</a:rPr>
              <a:t>Phase 3 — Roadmap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9944" y="1481328"/>
            <a:ext cx="822960" cy="20116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9944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12–24 months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73952" y="18745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56832" y="181051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Auscultation AI — CE MDR / De Novo cleared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73952" y="221284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56832" y="214884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Mon espace santé integration (60M users)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73952" y="255117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56832" y="248716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Medicare / EU RPM reimbursement billing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73952" y="288950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56832" y="2825496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Real-world evidence data licensing API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73952" y="32278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56832" y="3163824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EHDS (EU Health Data Space) compliance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73952" y="35661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56832" y="3502152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Francophone Africa expansion (WHO-ISH)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73952" y="390448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56832" y="3840480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Primary endpoint pharma trial platform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73952" y="424281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56832" y="41788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rPPG validation study + clearance pathway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Market Sizing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Remote patient monitoring + cardiac digital health — EU and global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74904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3108960" cy="256032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148840"/>
            <a:ext cx="1737360" cy="1463040"/>
          </a:xfrm>
          <a:prstGeom prst="ellipse">
            <a:avLst/>
          </a:prstGeom>
          <a:solidFill>
            <a:srgbClr val="BFDBFE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606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€150M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944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280"/>
                </a:solidFill>
              </a:rPr>
              <a:t>SOM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1664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€12B  SAM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€58B  TAM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51560"/>
            <a:ext cx="42062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4300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</a:rPr>
              <a:t>€58B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989320" y="1143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TAM — Global Market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170992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Global cardiac monitoring + remote patient monitoring market by 2028 (CAGR 17%). Pharma trial monitoring + B2B health data licensing included.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238658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386584"/>
            <a:ext cx="4206240" cy="64008"/>
          </a:xfrm>
          <a:prstGeom prst="rect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47802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87A"/>
                </a:solidFill>
              </a:rPr>
              <a:t>€12B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989320" y="24780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SAM — EU Addressable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304495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EU cardiac digital health: France, DACH, Benelux, Italy, Iberia. Mutuelles, occupational health, hospital RPM, pharma. Based on covered population × per-patient economics.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372160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721608"/>
            <a:ext cx="4206240" cy="6400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81304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445A"/>
                </a:solidFill>
              </a:rPr>
              <a:t>€150M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989320" y="38130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SOM — Year 1–3 Target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437997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France: médecine du travail, 3–5 mutuelles, 2 pharma RUO pilots, direct consumer (aging population). Realistic with current regulatory status — no CE MDR required for majority.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Customer Segments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Four buyers — different value drivers, different sales motions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659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65960" cy="73152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07008"/>
            <a:ext cx="822960" cy="219456"/>
          </a:xfrm>
          <a:prstGeom prst="rect">
            <a:avLst/>
          </a:prstGeom>
          <a:solidFill>
            <a:srgbClr val="E8445A">
              <a:alpha val="13000"/>
            </a:srgbClr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45A"/>
                </a:solidFill>
              </a:rPr>
              <a:t>① Priority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151790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Pharma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9339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280"/>
                </a:solidFill>
              </a:rPr>
              <a:t>Sanofi · Servier · Roche · Novartis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2340864"/>
            <a:ext cx="1737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95728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Need decentralised cardiac monitoring for trials. Pay the most. RUO label = no CE MDR needed.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429000"/>
            <a:ext cx="1755648" cy="548640"/>
          </a:xfrm>
          <a:prstGeom prst="rect">
            <a:avLst/>
          </a:prstGeom>
          <a:solidFill>
            <a:srgbClr val="E8445A">
              <a:alpha val="8000"/>
            </a:srgbClr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5643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45A"/>
                </a:solidFill>
              </a:rPr>
              <a:t>ARPU: €5–15M/trial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7216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Sales cycle: 2–4 months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24328" y="1051560"/>
            <a:ext cx="19659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24328" y="1051560"/>
            <a:ext cx="19659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1488" y="1207008"/>
            <a:ext cx="822960" cy="219456"/>
          </a:xfrm>
          <a:prstGeom prst="rect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</a:rPr>
              <a:t>② Scale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34056" y="151790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Insurance / Mutuelles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34056" y="199339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280"/>
                </a:solidFill>
              </a:rPr>
              <a:t>AG2R · Malakoff · Harmonie · AXA Santé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34056" y="2340864"/>
            <a:ext cx="1737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34056" y="2395728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Legally required to fund prevention. SCORE2 risk stratification = lower claims. Budget exists.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34056" y="3429000"/>
            <a:ext cx="1755648" cy="548640"/>
          </a:xfrm>
          <a:prstGeom prst="rect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345643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ARPU: €80/member/yr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61488" y="37216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Sales cycle: 4–6 months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91456" y="1051560"/>
            <a:ext cx="19659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91456" y="1051560"/>
            <a:ext cx="1965960" cy="73152"/>
          </a:xfrm>
          <a:prstGeom prst="rect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28616" y="1207008"/>
            <a:ext cx="822960" cy="219456"/>
          </a:xfrm>
          <a:prstGeom prst="rect">
            <a:avLst/>
          </a:prstGeom>
          <a:solidFill>
            <a:srgbClr val="F5C87A">
              <a:alpha val="13000"/>
            </a:srgbClr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87A"/>
                </a:solidFill>
              </a:rPr>
              <a:t>③ Fast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01184" y="151790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Occupational Health (SST)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01184" y="199339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280"/>
                </a:solidFill>
              </a:rPr>
              <a:t>CIAMT · Préventis · SIST · Mediwork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01184" y="2340864"/>
            <a:ext cx="1737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2395728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Employer-funded, mandatory. Cardiometabolic screening is a core deliverable. No CE MDR needed.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01184" y="3429000"/>
            <a:ext cx="1755648" cy="548640"/>
          </a:xfrm>
          <a:prstGeom prst="rect">
            <a:avLst/>
          </a:prstGeom>
          <a:solidFill>
            <a:srgbClr val="F5C87A">
              <a:alpha val="8000"/>
            </a:srgbClr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345643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87A"/>
                </a:solidFill>
              </a:rPr>
              <a:t>ARPU: €100–150K/SST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28616" y="37216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Sales cycle: 1–2 months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58584" y="1051560"/>
            <a:ext cx="19659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58584" y="1051560"/>
            <a:ext cx="1965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95744" y="1207008"/>
            <a:ext cx="822960" cy="219456"/>
          </a:xfrm>
          <a:prstGeom prst="rect">
            <a:avLst/>
          </a:prstGeom>
          <a:solidFill>
            <a:srgbClr val="22C55E">
              <a:alpha val="13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95744" y="12070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④ Volume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68312" y="151790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Aging Population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68312" y="1993392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280"/>
                </a:solidFill>
              </a:rPr>
              <a:t>Direct B2C · adult-child gifting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68312" y="2340864"/>
            <a:ext cx="1737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8312" y="2395728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10,000 EU citizens turn 65 daily. Family sharing creates organic referral loop. Low CAC.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68312" y="3429000"/>
            <a:ext cx="1755648" cy="54864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95744" y="3456432"/>
            <a:ext cx="1709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ARPU: €180/user/yr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95744" y="372160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Sales cycle: B2C — instant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Revenue Streams — Easiest to Crack First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Ranked by time-to-first-revenue and regulatory complexity — no CE MDR needed for top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1051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23360" y="1051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Time to Rev.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1051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Sales Cycle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0" y="1051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CE MDR?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49440" y="1051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Est. Year-1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435608"/>
            <a:ext cx="8229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591056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435608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Médecine du travail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435608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SST directors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0" y="1435608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1–3 mo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0" y="1435608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1–2 mo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0" y="1435608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No 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49440" y="1435608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€500K–1.5M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1911096"/>
            <a:ext cx="8229600" cy="448056"/>
          </a:xfrm>
          <a:prstGeom prst="rect">
            <a:avLst/>
          </a:prstGeom>
          <a:solidFill>
            <a:srgbClr val="F5F5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066544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1911096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Pharma RUO monitoring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1911096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Clinical Ops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23360" y="1911096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3–6 mo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0" y="1911096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2–4 mo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1911096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No 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1911096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€300K–1M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386584"/>
            <a:ext cx="8229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386584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Mutuelle prevention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238658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Médecin conseil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23360" y="2386584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6–9 mo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0" y="2386584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4–6 mo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35040" y="2386584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No ✓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49440" y="2386584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€400K–1M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862072"/>
            <a:ext cx="8229600" cy="448056"/>
          </a:xfrm>
          <a:prstGeom prst="rect">
            <a:avLst/>
          </a:prstGeom>
          <a:solidFill>
            <a:srgbClr val="F5F5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0175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2862072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Consumer subscription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77440" y="28620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B2C (aging pop)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023360" y="286207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Instant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0" y="2862072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B2C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35040" y="2862072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No ✓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49440" y="2862072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€200–500K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349300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" y="3337560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Telecardiology platform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77440" y="3337560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CTO/Product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023360" y="3337560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6–12 mo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029200" y="3337560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3–6 mo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035040" y="3337560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No ✓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49440" y="3337560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€200–800K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3813048"/>
            <a:ext cx="8229600" cy="448056"/>
          </a:xfrm>
          <a:prstGeom prst="rect">
            <a:avLst/>
          </a:prstGeom>
          <a:solidFill>
            <a:srgbClr val="F5F5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" y="3968496"/>
            <a:ext cx="128016" cy="128016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3813048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Hospital RPM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377440" y="3813048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Procurement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023360" y="3813048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18–36 mo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29200" y="3813048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12–24 mo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35040" y="3813048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445A"/>
                </a:solidFill>
              </a:rPr>
              <a:t>Yes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49440" y="3813048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€1–5M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288536"/>
            <a:ext cx="82296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4443984"/>
            <a:ext cx="128016" cy="128016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" y="4288536"/>
            <a:ext cx="1627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Mon espace santé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377440" y="4288536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HAS / DSN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023360" y="4288536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18–24 mo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029200" y="4288536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280"/>
                </a:solidFill>
              </a:rPr>
              <a:t>12–18 mo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035040" y="4288536"/>
            <a:ext cx="914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445A"/>
                </a:solidFill>
              </a:rPr>
              <a:t>Yes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949440" y="4288536"/>
            <a:ext cx="1737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€2–10M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Revenue Projections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Phased — no CE MDR required for Year 1 targets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005840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0" y="1005840"/>
            <a:ext cx="21031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93408" y="10789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280"/>
                </a:solidFill>
              </a:rPr>
              <a:t>Year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693408" y="13075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€2–5M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93408" y="14904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280"/>
                </a:solidFill>
              </a:rPr>
              <a:t>France launch: SST + pharma RUO + mutuelles pilot. No CE MDR needed.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583680" y="1920240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920240"/>
            <a:ext cx="21031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1993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280"/>
                </a:solidFill>
              </a:rPr>
              <a:t>Year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93408" y="2221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€15–35M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93408" y="24048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280"/>
                </a:solidFill>
              </a:rPr>
              <a:t>CE MDR obtained. Scale across Benelux + DACH. Telecardiology platform.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583680" y="2834640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2834640"/>
            <a:ext cx="2103120" cy="64008"/>
          </a:xfrm>
          <a:prstGeom prst="rect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93408" y="29077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280"/>
                </a:solidFill>
              </a:rPr>
              <a:t>Year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93408" y="3136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7A"/>
                </a:solidFill>
              </a:rPr>
              <a:t>€60–100M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93408" y="33192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280"/>
                </a:solidFill>
              </a:rPr>
              <a:t>Auscultation AI cleared. Hospital RPM reimbursement. HAS certified.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83680" y="3749040"/>
            <a:ext cx="21031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3749040"/>
            <a:ext cx="2103120" cy="6400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93408" y="38221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280"/>
                </a:solidFill>
              </a:rPr>
              <a:t>Year 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93408" y="4050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45A"/>
                </a:solidFill>
              </a:rPr>
              <a:t>€150–200M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93408" y="42336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280"/>
                </a:solidFill>
              </a:rPr>
              <a:t>Pan-EU scale. EHDS data licensing. Mon espace santé. Pharma primary endpoints.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DE8"/>
                </a:solidFill>
              </a:rPr>
              <a:t>France First — Then EU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France has the fastest path to first revenue — and the strongest tailwinds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18872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53312"/>
            <a:ext cx="566928" cy="566928"/>
          </a:xfrm>
          <a:prstGeom prst="ellipse">
            <a:avLst/>
          </a:prstGeom>
          <a:solidFill>
            <a:srgbClr val="2A2A3A"/>
          </a:solidFill>
          <a:ln w="12700">
            <a:solidFill>
              <a:srgbClr val="8A8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</a:rPr>
              <a:t>FR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114300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Ségur du Numérique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1490472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€2B French government investment in digital health (2021–2025). Grants via Bpifrance — Plan Innovation Santé 2030 — available now.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14800" cy="118872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353312"/>
            <a:ext cx="566928" cy="566928"/>
          </a:xfrm>
          <a:prstGeom prst="ellipse">
            <a:avLst/>
          </a:prstGeom>
          <a:solidFill>
            <a:srgbClr val="2A2A3A"/>
          </a:solidFill>
          <a:ln w="12700">
            <a:solidFill>
              <a:srgbClr val="8A8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53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</a:rPr>
              <a:t>MT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41848" y="114300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Médecine du travail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41848" y="1490472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Mandatory for all French employers. 20M workers. SST providers have budget and procurement processes AiSteth fits directly.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4114800" cy="118872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2A2A3A"/>
          </a:solidFill>
          <a:ln w="12700">
            <a:solidFill>
              <a:srgbClr val="8A8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</a:rPr>
              <a:t>MU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24688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Mutuelles légales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2816352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French mutuelles are legally required to fund cardiovascular prevention programs. SCORE2 = their risk tool. We give it to their members.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377440"/>
            <a:ext cx="4114800" cy="118872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2679192"/>
            <a:ext cx="566928" cy="566928"/>
          </a:xfrm>
          <a:prstGeom prst="ellipse">
            <a:avLst/>
          </a:prstGeom>
          <a:solidFill>
            <a:srgbClr val="2A2A3A"/>
          </a:solidFill>
          <a:ln w="12700">
            <a:solidFill>
              <a:srgbClr val="8A8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</a:rPr>
              <a:t>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41848" y="24688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Mon espace santé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41848" y="2816352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Every French citizen has a national health account. HAS certification → listed on 60M patient profiles. Long-term distribution moat.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4114800" cy="118872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005072"/>
            <a:ext cx="566928" cy="566928"/>
          </a:xfrm>
          <a:prstGeom prst="ellipse">
            <a:avLst/>
          </a:prstGeom>
          <a:solidFill>
            <a:srgbClr val="2A2A3A"/>
          </a:solidFill>
          <a:ln w="12700">
            <a:solidFill>
              <a:srgbClr val="8A8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05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</a:rPr>
              <a:t>65+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98448" y="379476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Aging tailwind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98448" y="4142232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20% of EU over 65 by 2025. France: 1M+ people over 85. Adult children buying monitoring tools for parents is the fastest-growing consumer health segment.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3703320"/>
            <a:ext cx="4114800" cy="1188720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4005072"/>
            <a:ext cx="566928" cy="566928"/>
          </a:xfrm>
          <a:prstGeom prst="ellipse">
            <a:avLst/>
          </a:prstGeom>
          <a:solidFill>
            <a:srgbClr val="2A2A3A"/>
          </a:solidFill>
          <a:ln w="12700">
            <a:solidFill>
              <a:srgbClr val="8A8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005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</a:rPr>
              <a:t>EU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41848" y="379476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Expansion logic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41848" y="4142232"/>
            <a:ext cx="3090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France → Belgium/Luxembourg → Switzerland → DACH → Iberia/Italy. Then Francophone Africa via WHO-ISH module (Morocco, Tunisia, Algeria).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Go-to-Market: Vivatech &amp; Beyond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Sequenced motion: land a pharma anchor → close mutuelles → scale consumer via family sharing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3F0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Vivatech Priority Targets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36776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Sanofi &amp; Servier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178308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Pitch cardiotoxicity RUO monitoring pilot. Clinical ops team. €300K–1M deal.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11226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AXA Santé / AG2R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238658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SCORE2 prevention platform for mutuelle members. €100–200K/yr licensing.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843784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71576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Bpifrance booth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299008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Apply for Plan Innovation Santé 2030 non-dilutive grant. €200–500K.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447288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31927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Doctolib / Livi / Qare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359359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Telecardiology integration — sell stethoscope as their patient-side device.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92277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French Tech Santé press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419709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Maddyness, FrenchWeb, Le Figaro. 'AI stethoscope from Paris startup' = coverage.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GTM Sequence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1618488"/>
            <a:ext cx="384048" cy="384048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1808" y="1508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Pharma RUO anchor deal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21808" y="1783080"/>
            <a:ext cx="640080" cy="182880"/>
          </a:xfrm>
          <a:prstGeom prst="rect">
            <a:avLst/>
          </a:prstGeom>
          <a:solidFill>
            <a:srgbClr val="E8445A">
              <a:alpha val="13000"/>
            </a:srgbClr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1783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45A"/>
                </a:solidFill>
              </a:rPr>
              <a:t>Month 1–3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21808" y="1984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One Sanofi/Servier pilot = clinical validation data + €500K+ + credibility for all subsequent sales.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28032" y="2350008"/>
            <a:ext cx="384048" cy="384048"/>
          </a:xfrm>
          <a:prstGeom prst="ellipse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2240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3 SST/occupational health pilots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21808" y="2514600"/>
            <a:ext cx="640080" cy="182880"/>
          </a:xfrm>
          <a:prstGeom prst="rect">
            <a:avLst/>
          </a:prstGeom>
          <a:solidFill>
            <a:srgbClr val="F5C87A">
              <a:alpha val="13000"/>
            </a:srgbClr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514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C87A"/>
                </a:solidFill>
              </a:rPr>
              <a:t>Month 2–5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21808" y="2715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Fastest contract. €50–100K each. No CE MDR. Proves enterprise B2B motion.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28032" y="308152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21808" y="2971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2 mutuelle prevention deals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21808" y="3246120"/>
            <a:ext cx="640080" cy="182880"/>
          </a:xfrm>
          <a:prstGeom prst="rect">
            <a:avLst/>
          </a:prstGeom>
          <a:solidFill>
            <a:srgbClr val="3B82F6">
              <a:alpha val="13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3246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Month 4–9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321808" y="3447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Longer cycle but high ARPU. Use pharma data to show risk-score accuracy.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28032" y="3813048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21808" y="3703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Consumer launch — family gifting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21808" y="3977640"/>
            <a:ext cx="640080" cy="182880"/>
          </a:xfrm>
          <a:prstGeom prst="rect">
            <a:avLst/>
          </a:prstGeom>
          <a:solidFill>
            <a:srgbClr val="22C55E">
              <a:alpha val="13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1808" y="39776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Month 3+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21808" y="41788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Adult child buys for parent. €15/mo. Low CAC. Family link = 2 users per signup.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EDE8"/>
                </a:solidFill>
              </a:rPr>
              <a:t>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80"/>
                </a:solidFill>
              </a:rPr>
              <a:t>Four actions in the next 90 days that unlock the path to €10M ARR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755648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6400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45A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749040" y="1161288"/>
            <a:ext cx="685800" cy="219456"/>
          </a:xfrm>
          <a:prstGeom prst="rect">
            <a:avLst/>
          </a:prstGeom>
          <a:solidFill>
            <a:srgbClr val="E8445A">
              <a:alpha val="20000"/>
            </a:srgbClr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1612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45A"/>
                </a:solidFill>
              </a:rPr>
              <a:t>This week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Surface SCORE2 in the product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305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SCORE2 is the front door to every EU clinical and insurance conversation. It's already in the backend — needs to be the hero in the app.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114800" cy="1755648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51560"/>
            <a:ext cx="4114800" cy="64008"/>
          </a:xfrm>
          <a:prstGeom prst="rect">
            <a:avLst/>
          </a:prstGeom>
          <a:solidFill>
            <a:srgbClr val="F5C87A"/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87A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92440" y="1161288"/>
            <a:ext cx="685800" cy="219456"/>
          </a:xfrm>
          <a:prstGeom prst="rect">
            <a:avLst/>
          </a:prstGeom>
          <a:solidFill>
            <a:srgbClr val="F5C87A">
              <a:alpha val="20000"/>
            </a:srgbClr>
          </a:solidFill>
          <a:ln w="12700">
            <a:solidFill>
              <a:srgbClr val="F5C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1612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C87A"/>
                </a:solidFill>
              </a:rPr>
              <a:t>Month 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37760" y="17099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Book CE MDR pre-submission with TÜV SÜD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1305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510(k) technical file is ~70% of the MDR dossier. 6–10 month timeline — the clock starts only when you submit. Every week of delay = a week later to hospital and RPM revenue.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35224"/>
            <a:ext cx="4114800" cy="1755648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35224"/>
            <a:ext cx="41148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749040" y="3044952"/>
            <a:ext cx="685800" cy="219456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04495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Month 1–3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4360" y="3593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Close a pharma RUO pilot (Sanofi / Servier)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0142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One RUO deal = €300K–1M revenue + clinical validation data + the published accuracy study that changes every other sales conversation.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935224"/>
            <a:ext cx="4114800" cy="1755648"/>
          </a:xfrm>
          <a:prstGeom prst="rect">
            <a:avLst/>
          </a:prstGeom>
          <a:solidFill>
            <a:srgbClr val="13131A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35224"/>
            <a:ext cx="41148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04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092440" y="3044952"/>
            <a:ext cx="685800" cy="219456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304495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Month 2–5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37760" y="35935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</a:rPr>
              <a:t>Sign 2 mutuelle / SST prevention agreements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0142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80"/>
                </a:solidFill>
              </a:rPr>
              <a:t>No CE MDR needed. SCORE2 is the hook. Budget exists. These are the fastest enterprise contracts in the French health system.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12700">
            <a:solidFill>
              <a:srgbClr val="2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2560320"/>
            <a:ext cx="1828800" cy="4572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E8445A"/>
                </a:solidFill>
              </a:rPr>
              <a:t>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0" y="914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EDE8"/>
                </a:solidFill>
              </a:rPr>
              <a:t>Steth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" kern="0" dirty="0">
                <a:solidFill>
                  <a:srgbClr val="8A8280"/>
                </a:solidFill>
              </a:rPr>
              <a:t>The intelligent cardiac monitoring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834640"/>
            <a:ext cx="1600200" cy="292608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834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FDA 510(k) Cleared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0" y="2834640"/>
            <a:ext cx="1600200" cy="292608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834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SCORE2 EU Standard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9040" y="2834640"/>
            <a:ext cx="1600200" cy="292608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834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GDPR Native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0" y="2834640"/>
            <a:ext cx="1600200" cy="292608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834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Family Sharing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23760" y="2834640"/>
            <a:ext cx="1600200" cy="292608"/>
          </a:xfrm>
          <a:prstGeom prst="rect">
            <a:avLst/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834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280"/>
                </a:solidFill>
              </a:rPr>
              <a:t>France HQ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445A"/>
                </a:solidFill>
              </a:rPr>
              <a:t>aisteth.app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50" kern="0" dirty="0">
                <a:solidFill>
                  <a:srgbClr val="8A8280"/>
                </a:solidFill>
              </a:rPr>
              <a:t>EU-first · Vivatech Ready · Open for Partnership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AiSteth — Product &amp; Commercial Overview</dc:title>
  <dc:subject>PptxGenJS Presentation</dc:subject>
  <dc:creator>AiSteth</dc:creator>
  <cp:lastModifiedBy>AiSteth</cp:lastModifiedBy>
  <cp:revision>1</cp:revision>
  <dcterms:created xsi:type="dcterms:W3CDTF">2026-06-05T08:42:42Z</dcterms:created>
  <dcterms:modified xsi:type="dcterms:W3CDTF">2026-06-05T08:42:42Z</dcterms:modified>
</cp:coreProperties>
</file>